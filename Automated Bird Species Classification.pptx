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3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9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5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6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33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5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26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4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9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1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8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">
            <a:extLst>
              <a:ext uri="{FF2B5EF4-FFF2-40B4-BE49-F238E27FC236}">
                <a16:creationId xmlns:a16="http://schemas.microsoft.com/office/drawing/2014/main" id="{922E0291-99C8-40F9-ADAB-32589A3B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ép 5" descr="A képen madár, kültéri, vadvilág, cső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B7071AC-DD48-26E4-1782-422B5290B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6" b="18834"/>
          <a:stretch>
            <a:fillRect/>
          </a:stretch>
        </p:blipFill>
        <p:spPr>
          <a:xfrm>
            <a:off x="-4" y="-2"/>
            <a:ext cx="12191979" cy="685799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5830D2-F2AE-4DD8-B586-89B097791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8714" y="258715"/>
            <a:ext cx="6858000" cy="634056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607F965-B0D5-67EF-6B9C-09C6DDB6F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1959" y="2378666"/>
            <a:ext cx="6937224" cy="1551308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hu-HU" dirty="0" err="1">
                <a:solidFill>
                  <a:srgbClr val="FFFFFF"/>
                </a:solidFill>
              </a:rPr>
              <a:t>Automated</a:t>
            </a:r>
            <a:r>
              <a:rPr lang="hu-HU" dirty="0">
                <a:solidFill>
                  <a:srgbClr val="FFFFFF"/>
                </a:solidFill>
              </a:rPr>
              <a:t> </a:t>
            </a:r>
            <a:r>
              <a:rPr lang="hu-HU" dirty="0" err="1">
                <a:solidFill>
                  <a:srgbClr val="FFFFFF"/>
                </a:solidFill>
              </a:rPr>
              <a:t>Bird</a:t>
            </a:r>
            <a:r>
              <a:rPr lang="hu-HU" dirty="0">
                <a:solidFill>
                  <a:srgbClr val="FFFFFF"/>
                </a:solidFill>
              </a:rPr>
              <a:t> Species </a:t>
            </a:r>
            <a:r>
              <a:rPr lang="hu-HU" dirty="0" err="1">
                <a:solidFill>
                  <a:srgbClr val="FFFFFF"/>
                </a:solidFill>
              </a:rPr>
              <a:t>Classification</a:t>
            </a:r>
            <a:endParaRPr lang="hu-HU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EAAE5F3-4E24-2020-A770-ECF84B3E8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2366" y="3636422"/>
            <a:ext cx="5199531" cy="587103"/>
          </a:xfrm>
        </p:spPr>
        <p:txBody>
          <a:bodyPr anchor="b">
            <a:normAutofit/>
          </a:bodyPr>
          <a:lstStyle/>
          <a:p>
            <a:r>
              <a:rPr lang="hu-HU" i="1" dirty="0" err="1">
                <a:solidFill>
                  <a:schemeClr val="bg1"/>
                </a:solidFill>
              </a:rPr>
              <a:t>Using</a:t>
            </a:r>
            <a:r>
              <a:rPr lang="hu-HU" i="1" dirty="0">
                <a:solidFill>
                  <a:schemeClr val="bg1"/>
                </a:solidFill>
              </a:rPr>
              <a:t> EfficientNetV2 &amp; JAX Backend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A045745-A03C-527D-AD1B-0FE6C5E13013}"/>
              </a:ext>
            </a:extLst>
          </p:cNvPr>
          <p:cNvSpPr txBox="1"/>
          <p:nvPr/>
        </p:nvSpPr>
        <p:spPr>
          <a:xfrm>
            <a:off x="4564508" y="393110"/>
            <a:ext cx="355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</a:rPr>
              <a:t>BirdCLEF</a:t>
            </a:r>
            <a:r>
              <a:rPr lang="hu-HU" dirty="0">
                <a:solidFill>
                  <a:schemeClr val="bg1"/>
                </a:solidFill>
              </a:rPr>
              <a:t> 2024 Research Project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FBA383B-181D-49BD-B275-ED14D1BA3BFF}"/>
              </a:ext>
            </a:extLst>
          </p:cNvPr>
          <p:cNvSpPr txBox="1"/>
          <p:nvPr/>
        </p:nvSpPr>
        <p:spPr>
          <a:xfrm>
            <a:off x="4589931" y="6095558"/>
            <a:ext cx="3012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solidFill>
                  <a:schemeClr val="bg1"/>
                </a:solidFill>
              </a:rPr>
              <a:t>Presented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by</a:t>
            </a:r>
            <a:r>
              <a:rPr lang="hu-HU" b="1" dirty="0">
                <a:solidFill>
                  <a:schemeClr val="bg1"/>
                </a:solidFill>
              </a:rPr>
              <a:t>: </a:t>
            </a:r>
            <a:r>
              <a:rPr lang="hu-HU" b="1" dirty="0" err="1">
                <a:solidFill>
                  <a:schemeClr val="bg1"/>
                </a:solidFill>
              </a:rPr>
              <a:t>Wellermen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03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5BCDD1E-E7F2-DAE1-A336-ED3FC1FC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 fontScale="90000"/>
          </a:bodyPr>
          <a:lstStyle/>
          <a:p>
            <a:r>
              <a:rPr lang="hu-HU" dirty="0" err="1"/>
              <a:t>Identifying</a:t>
            </a:r>
            <a:r>
              <a:rPr lang="hu-HU" dirty="0"/>
              <a:t> </a:t>
            </a:r>
            <a:r>
              <a:rPr lang="hu-HU" dirty="0" err="1"/>
              <a:t>Biodiversity</a:t>
            </a:r>
            <a:r>
              <a:rPr lang="hu-HU" dirty="0"/>
              <a:t> </a:t>
            </a:r>
            <a:r>
              <a:rPr lang="hu-HU" dirty="0" err="1"/>
              <a:t>through</a:t>
            </a:r>
            <a:r>
              <a:rPr lang="hu-HU" dirty="0"/>
              <a:t> </a:t>
            </a:r>
            <a:r>
              <a:rPr lang="hu-HU" dirty="0" err="1"/>
              <a:t>Sound</a:t>
            </a:r>
            <a:endParaRPr lang="hu-HU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88D279-BE95-79BA-25F1-EFF1E5484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054927"/>
            <a:ext cx="5022630" cy="312203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Mission</a:t>
            </a:r>
            <a:r>
              <a:rPr lang="en-US" dirty="0">
                <a:solidFill>
                  <a:schemeClr val="bg1"/>
                </a:solidFill>
              </a:rPr>
              <a:t>: Protecting ecosystem health by monitoring bird populations in India.</a:t>
            </a:r>
          </a:p>
          <a:p>
            <a:r>
              <a:rPr lang="en-US" b="1" dirty="0">
                <a:solidFill>
                  <a:schemeClr val="bg1"/>
                </a:solidFill>
              </a:rPr>
              <a:t>The Motivation</a:t>
            </a:r>
            <a:r>
              <a:rPr lang="en-US" dirty="0">
                <a:solidFill>
                  <a:schemeClr val="bg1"/>
                </a:solidFill>
              </a:rPr>
              <a:t>: Birds are "indicator species"; their presence or absence tells us if an environment is healthy or failing.</a:t>
            </a:r>
          </a:p>
          <a:p>
            <a:r>
              <a:rPr lang="en-US" b="1" dirty="0">
                <a:solidFill>
                  <a:schemeClr val="bg1"/>
                </a:solidFill>
              </a:rPr>
              <a:t>The Problem</a:t>
            </a:r>
            <a:r>
              <a:rPr lang="en-US" dirty="0">
                <a:solidFill>
                  <a:schemeClr val="bg1"/>
                </a:solidFill>
              </a:rPr>
              <a:t>: Manual observation is impossible in dense tropical forests or over long periods.</a:t>
            </a:r>
          </a:p>
          <a:p>
            <a:r>
              <a:rPr lang="en-US" b="1" dirty="0">
                <a:solidFill>
                  <a:schemeClr val="bg1"/>
                </a:solidFill>
              </a:rPr>
              <a:t>The Objective</a:t>
            </a:r>
            <a:r>
              <a:rPr lang="en-US" dirty="0">
                <a:solidFill>
                  <a:schemeClr val="bg1"/>
                </a:solidFill>
              </a:rPr>
              <a:t>: To develop an automated, scalable AI system that can listen to the forest and identify species as accurately as a human expert.</a:t>
            </a:r>
          </a:p>
        </p:txBody>
      </p:sp>
      <p:pic>
        <p:nvPicPr>
          <p:cNvPr id="5" name="Tartalom helye 4" descr="A képen kültéri, növény, fa, Trópusi és szubtrópusi tűlevelű erdők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65F4BD6-675B-623A-916F-1BAB025C2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3" r="23485"/>
          <a:stretch>
            <a:fillRect/>
          </a:stretch>
        </p:blipFill>
        <p:spPr>
          <a:xfrm>
            <a:off x="6083644" y="10"/>
            <a:ext cx="61083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11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997AFD-184F-CDCD-DB66-77A3546D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Previous</a:t>
            </a:r>
            <a:r>
              <a:rPr lang="hu-HU" dirty="0"/>
              <a:t> </a:t>
            </a:r>
            <a:r>
              <a:rPr lang="hu-HU" dirty="0" err="1"/>
              <a:t>Solutions</a:t>
            </a:r>
            <a:r>
              <a:rPr lang="hu-HU" dirty="0"/>
              <a:t> &amp; Context</a:t>
            </a:r>
          </a:p>
        </p:txBody>
      </p:sp>
      <p:graphicFrame>
        <p:nvGraphicFramePr>
          <p:cNvPr id="5" name="Tartalom helye 4">
            <a:extLst>
              <a:ext uri="{FF2B5EF4-FFF2-40B4-BE49-F238E27FC236}">
                <a16:creationId xmlns:a16="http://schemas.microsoft.com/office/drawing/2014/main" id="{F3C15440-F617-220D-0662-0F69046EB2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441394"/>
              </p:ext>
            </p:extLst>
          </p:nvPr>
        </p:nvGraphicFramePr>
        <p:xfrm>
          <a:off x="484552" y="3025549"/>
          <a:ext cx="10869612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020">
                  <a:extLst>
                    <a:ext uri="{9D8B030D-6E8A-4147-A177-3AD203B41FA5}">
                      <a16:colId xmlns:a16="http://schemas.microsoft.com/office/drawing/2014/main" val="1307013140"/>
                    </a:ext>
                  </a:extLst>
                </a:gridCol>
                <a:gridCol w="3510643">
                  <a:extLst>
                    <a:ext uri="{9D8B030D-6E8A-4147-A177-3AD203B41FA5}">
                      <a16:colId xmlns:a16="http://schemas.microsoft.com/office/drawing/2014/main" val="682459959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996628989"/>
                    </a:ext>
                  </a:extLst>
                </a:gridCol>
                <a:gridCol w="3268549">
                  <a:extLst>
                    <a:ext uri="{9D8B030D-6E8A-4147-A177-3AD203B41FA5}">
                      <a16:colId xmlns:a16="http://schemas.microsoft.com/office/drawing/2014/main" val="239708060"/>
                    </a:ext>
                  </a:extLst>
                </a:gridCol>
              </a:tblGrid>
              <a:tr h="148907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Traditional Methods:</a:t>
                      </a:r>
                      <a:r>
                        <a:rPr lang="en-US" dirty="0"/>
                        <a:t> Manual audio observation by experts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Early Digital Methods:</a:t>
                      </a:r>
                      <a:r>
                        <a:rPr lang="en-US" dirty="0"/>
                        <a:t> Basic Signal Processing (Template Matching).</a:t>
                      </a:r>
                    </a:p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/>
                        <a:t>Standard </a:t>
                      </a:r>
                      <a:r>
                        <a:rPr lang="hu-HU" b="1" dirty="0" err="1"/>
                        <a:t>CNNs</a:t>
                      </a:r>
                      <a:r>
                        <a:rPr lang="hu-HU" b="1" dirty="0"/>
                        <a:t>: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Older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models</a:t>
                      </a:r>
                      <a:r>
                        <a:rPr lang="hu-HU" dirty="0"/>
                        <a:t> like </a:t>
                      </a:r>
                      <a:r>
                        <a:rPr lang="hu-HU" dirty="0" err="1"/>
                        <a:t>ResNet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or</a:t>
                      </a:r>
                      <a:r>
                        <a:rPr lang="hu-HU" dirty="0"/>
                        <a:t> VGG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36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err="1"/>
                        <a:t>Pros</a:t>
                      </a:r>
                      <a:r>
                        <a:rPr lang="hu-HU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High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accuracy</a:t>
                      </a:r>
                      <a:r>
                        <a:rPr lang="hu-H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Fast</a:t>
                      </a:r>
                      <a:r>
                        <a:rPr lang="hu-HU" dirty="0"/>
                        <a:t>, no "</a:t>
                      </a:r>
                      <a:r>
                        <a:rPr lang="hu-HU" dirty="0" err="1"/>
                        <a:t>training</a:t>
                      </a:r>
                      <a:r>
                        <a:rPr lang="hu-HU" dirty="0"/>
                        <a:t>" </a:t>
                      </a:r>
                      <a:r>
                        <a:rPr lang="hu-HU" dirty="0" err="1"/>
                        <a:t>needed</a:t>
                      </a:r>
                      <a:r>
                        <a:rPr lang="hu-H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Good image </a:t>
                      </a:r>
                      <a:r>
                        <a:rPr lang="hu-HU" dirty="0" err="1"/>
                        <a:t>recognition</a:t>
                      </a:r>
                      <a:r>
                        <a:rPr lang="hu-HU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0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 scalable, expensive, and limited by human presence.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Fails in noisy environments or with variable bird calls.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computational cost (heavy) and slower inference on mobile/field devices.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256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20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761F833-2186-2167-291A-91D08991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Waves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Visual </a:t>
            </a:r>
            <a:r>
              <a:rPr lang="hu-HU" dirty="0" err="1"/>
              <a:t>Patterns</a:t>
            </a:r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B7647BE5-29BB-F26A-F7AC-38BE1AB04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961" y="3452020"/>
            <a:ext cx="4257722" cy="272494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5446CC3-8669-4608-8BCD-BB7E67DD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8998"/>
            <a:ext cx="6095998" cy="3429001"/>
            <a:chOff x="6096002" y="-9073"/>
            <a:chExt cx="6095998" cy="686707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4CDE60B-6485-40E2-8B73-7017D308D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1E46894-05A2-44C1-B87E-B5E1B0A14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7F885C-D9BF-F10A-27CC-8EC52CB20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870613"/>
            <a:ext cx="5022630" cy="2306349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The Database</a:t>
            </a:r>
            <a:r>
              <a:rPr lang="en-US" dirty="0"/>
              <a:t>: 24,459 audio recordings in .</a:t>
            </a:r>
            <a:r>
              <a:rPr lang="en-US" dirty="0" err="1"/>
              <a:t>ogg</a:t>
            </a:r>
            <a:r>
              <a:rPr lang="en-US" dirty="0"/>
              <a:t> format, covering 182 Indian bird species.</a:t>
            </a:r>
          </a:p>
          <a:p>
            <a:r>
              <a:rPr lang="en-US" b="1" dirty="0"/>
              <a:t>The System Plan</a:t>
            </a:r>
            <a:r>
              <a:rPr lang="en-US" dirty="0"/>
              <a:t>: A modular pipeline that transforms raw noise into structured visual data.</a:t>
            </a:r>
          </a:p>
          <a:p>
            <a:r>
              <a:rPr lang="en-US" b="1" dirty="0"/>
              <a:t>Preprocessing</a:t>
            </a:r>
            <a:r>
              <a:rPr lang="en-US" dirty="0"/>
              <a:t>: Audio is standardized to 15-second segments at a 32,000 Hz sample rate.</a:t>
            </a:r>
          </a:p>
          <a:p>
            <a:r>
              <a:rPr lang="en-US" b="1" dirty="0"/>
              <a:t>Feature Extraction</a:t>
            </a:r>
            <a:r>
              <a:rPr lang="en-US" dirty="0"/>
              <a:t>: Conversion of 1D waveforms into 2D Mel-Spectrograms (size 128 x 384).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F21B8F9-8BFF-6238-13EB-5F8C9C7F1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196" y="796404"/>
            <a:ext cx="5139252" cy="156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44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6A2B6FF-98AF-4A0F-AAA9-F291A7D2D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6083644" cy="3429000"/>
            <a:chOff x="6096002" y="-9073"/>
            <a:chExt cx="6095998" cy="686707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3A2D870-BA00-4DBB-BF6E-782BAFEDC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FD376E6-424C-4887-B673-6B4126758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8B0CED3-3748-6A7A-A9D9-CDEB3440D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 fontScale="90000"/>
          </a:bodyPr>
          <a:lstStyle/>
          <a:p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Architecture</a:t>
            </a:r>
            <a:r>
              <a:rPr lang="hu-HU" dirty="0"/>
              <a:t> &amp; Framework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ECBD5A1-7E93-04BE-509D-8E017D7AF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852" y="3686783"/>
            <a:ext cx="5589564" cy="2898842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Architecture</a:t>
            </a:r>
            <a:r>
              <a:rPr lang="en-US" dirty="0"/>
              <a:t>: EfficientNetV2-B2 backbone with ImageNet-1k pre-trained weights.</a:t>
            </a:r>
          </a:p>
          <a:p>
            <a:r>
              <a:rPr lang="en-US" b="1" dirty="0"/>
              <a:t>The Framework</a:t>
            </a:r>
            <a:r>
              <a:rPr lang="en-US" dirty="0"/>
              <a:t>: </a:t>
            </a:r>
            <a:r>
              <a:rPr lang="en-US" dirty="0" err="1"/>
              <a:t>Keras</a:t>
            </a:r>
            <a:r>
              <a:rPr lang="en-US" dirty="0"/>
              <a:t> 3 + JAX backend for </a:t>
            </a:r>
            <a:r>
              <a:rPr lang="hu-HU" dirty="0" err="1"/>
              <a:t>optimised</a:t>
            </a:r>
            <a:r>
              <a:rPr lang="en-US" dirty="0"/>
              <a:t> GPU performance and faster iteration.</a:t>
            </a:r>
          </a:p>
          <a:p>
            <a:r>
              <a:rPr lang="en-US" b="1" dirty="0"/>
              <a:t>Training Specs</a:t>
            </a:r>
            <a:r>
              <a:rPr lang="en-US" dirty="0"/>
              <a:t>: 5 epochs, batch size of 16, and categorical cross-entropy loss.</a:t>
            </a:r>
          </a:p>
          <a:p>
            <a:r>
              <a:rPr lang="en-US" b="1" dirty="0"/>
              <a:t>Difficulties &amp; Solutions</a:t>
            </a:r>
            <a:r>
              <a:rPr lang="en-US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Challenge: Extreme background noise (wind/rain).</a:t>
            </a:r>
            <a:br>
              <a:rPr lang="hu-HU" dirty="0"/>
            </a:br>
            <a:r>
              <a:rPr lang="en-US" dirty="0"/>
              <a:t>Solution: Mel-spectrogram scaling and </a:t>
            </a:r>
            <a:r>
              <a:rPr lang="hu-HU" dirty="0" err="1"/>
              <a:t>normalisation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Challenge: Data Imbalance (some birds are rare). </a:t>
            </a:r>
            <a:br>
              <a:rPr lang="hu-HU" dirty="0"/>
            </a:br>
            <a:r>
              <a:rPr lang="en-US" dirty="0"/>
              <a:t>Solution: Transfer learning from ImageNet to provide a strong feature-detection baseline.</a:t>
            </a:r>
          </a:p>
        </p:txBody>
      </p:sp>
      <p:pic>
        <p:nvPicPr>
          <p:cNvPr id="11" name="Tartalom helye 10" descr="A képen szöveg, képernyőkép, Betűtípus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43AB75E-3B1B-931E-2DBD-8D109C690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007" y="609599"/>
            <a:ext cx="4030079" cy="5520657"/>
          </a:xfrm>
          <a:prstGeom prst="rect">
            <a:avLst/>
          </a:prstGeom>
        </p:spPr>
      </p:pic>
      <p:pic>
        <p:nvPicPr>
          <p:cNvPr id="1028" name="Picture 4" descr="Keras 3 API documentation">
            <a:extLst>
              <a:ext uri="{FF2B5EF4-FFF2-40B4-BE49-F238E27FC236}">
                <a16:creationId xmlns:a16="http://schemas.microsoft.com/office/drawing/2014/main" id="{8A96DF97-766B-45D6-B514-FF1A51BED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309" y="3921351"/>
            <a:ext cx="1328839" cy="4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ax · GitHub Topics · GitHub">
            <a:extLst>
              <a:ext uri="{FF2B5EF4-FFF2-40B4-BE49-F238E27FC236}">
                <a16:creationId xmlns:a16="http://schemas.microsoft.com/office/drawing/2014/main" id="{B8795D80-EFF0-9ABB-D917-D1444EBE5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309" y="4805209"/>
            <a:ext cx="1169139" cy="67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804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C4E0BA-4C68-D1FA-5EEB-534DD08B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Results</a:t>
            </a:r>
            <a:r>
              <a:rPr lang="hu-HU" dirty="0"/>
              <a:t> &amp; </a:t>
            </a:r>
            <a:r>
              <a:rPr lang="hu-HU" dirty="0" err="1"/>
              <a:t>Evaluation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EBF8E0-6AAD-A949-B00B-8D2F46566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Metric</a:t>
            </a:r>
            <a:r>
              <a:rPr lang="en-US" dirty="0"/>
              <a:t>: Since the competition is highly imbalanced, we look at Macro F1-Score as the ideal measure for future success.</a:t>
            </a:r>
          </a:p>
          <a:p>
            <a:r>
              <a:rPr lang="en-US" b="1" dirty="0"/>
              <a:t>Hardware Constraints</a:t>
            </a:r>
            <a:r>
              <a:rPr lang="en-US" dirty="0"/>
              <a:t>: Training was conducted on Google Colab (Tesla T4 GPU). Given the 182 species and 24k+ files, full convergence requires significant compute time.</a:t>
            </a:r>
          </a:p>
          <a:p>
            <a:r>
              <a:rPr lang="en-US" b="1" dirty="0"/>
              <a:t>Current Focus</a:t>
            </a:r>
            <a:r>
              <a:rPr lang="en-US" dirty="0"/>
              <a:t>: The project currently focuses on Pipeline Integrity—ensuring that audio correctly flows through the JAX-optimized preprocessing to the </a:t>
            </a:r>
            <a:r>
              <a:rPr lang="en-US" dirty="0" err="1"/>
              <a:t>EfficientNet</a:t>
            </a:r>
            <a:r>
              <a:rPr lang="en-US" dirty="0"/>
              <a:t> backbone.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2535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36" name="Rectangle 2127">
            <a:extLst>
              <a:ext uri="{FF2B5EF4-FFF2-40B4-BE49-F238E27FC236}">
                <a16:creationId xmlns:a16="http://schemas.microsoft.com/office/drawing/2014/main" id="{4AF15C8E-093E-4823-A12A-001BAA62B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7" name="Rectangle 2129">
            <a:extLst>
              <a:ext uri="{FF2B5EF4-FFF2-40B4-BE49-F238E27FC236}">
                <a16:creationId xmlns:a16="http://schemas.microsoft.com/office/drawing/2014/main" id="{8DC60494-71A0-4561-A012-BA2338D0D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2957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9F6EC6D-F19D-646B-9CE8-A6A23F999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70831"/>
          </a:xfrm>
        </p:spPr>
        <p:txBody>
          <a:bodyPr>
            <a:normAutofit/>
          </a:bodyPr>
          <a:lstStyle/>
          <a:p>
            <a:r>
              <a:rPr lang="hu-HU"/>
              <a:t>DEMO</a:t>
            </a:r>
            <a:endParaRPr lang="hu-HU" dirty="0"/>
          </a:p>
        </p:txBody>
      </p:sp>
      <p:sp>
        <p:nvSpPr>
          <p:cNvPr id="9" name="Tartalom helye 8">
            <a:extLst>
              <a:ext uri="{FF2B5EF4-FFF2-40B4-BE49-F238E27FC236}">
                <a16:creationId xmlns:a16="http://schemas.microsoft.com/office/drawing/2014/main" id="{BB045D7C-B4F3-F153-0000-2C50A107D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3"/>
            <a:ext cx="4301457" cy="3600450"/>
          </a:xfrm>
        </p:spPr>
        <p:txBody>
          <a:bodyPr/>
          <a:lstStyle/>
          <a:p>
            <a:r>
              <a:rPr lang="en-US" dirty="0"/>
              <a:t>Successful audio-to-spectrogram transformation.</a:t>
            </a:r>
          </a:p>
          <a:p>
            <a:r>
              <a:rPr lang="en-US" dirty="0"/>
              <a:t>End-to-end connectivity: </a:t>
            </a:r>
            <a:br>
              <a:rPr lang="hu-HU" dirty="0"/>
            </a:br>
            <a:r>
              <a:rPr lang="en-US" dirty="0"/>
              <a:t>Data </a:t>
            </a:r>
            <a:r>
              <a:rPr lang="hu-HU" dirty="0"/>
              <a:t>→</a:t>
            </a:r>
            <a:r>
              <a:rPr lang="en-US" dirty="0"/>
              <a:t> Preprocessing </a:t>
            </a:r>
            <a:r>
              <a:rPr lang="hu-HU" dirty="0"/>
              <a:t>→</a:t>
            </a:r>
            <a:r>
              <a:rPr lang="en-US" dirty="0"/>
              <a:t> Model.</a:t>
            </a:r>
          </a:p>
          <a:p>
            <a:r>
              <a:rPr lang="en-US" dirty="0"/>
              <a:t>Interactive data exploration using </a:t>
            </a:r>
            <a:r>
              <a:rPr lang="en-US" dirty="0" err="1"/>
              <a:t>Librosa</a:t>
            </a:r>
            <a:r>
              <a:rPr lang="en-US" dirty="0"/>
              <a:t>.</a:t>
            </a:r>
            <a:endParaRPr lang="hu-HU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B9B08CE0-A4D8-AB18-455F-6540C8FBA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61" y="2402530"/>
            <a:ext cx="6308354" cy="41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13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D9A53E6-E19B-5064-0844-7FC402EA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hu-HU" dirty="0"/>
              <a:t>Project </a:t>
            </a:r>
            <a:r>
              <a:rPr lang="hu-HU" dirty="0" err="1"/>
              <a:t>Conclusion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BC923D-2FFC-EC0B-5D1D-D8D47550E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054927"/>
            <a:ext cx="5022630" cy="312203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b="1">
                <a:solidFill>
                  <a:schemeClr val="bg1"/>
                </a:solidFill>
              </a:rPr>
              <a:t>Successful Integration</a:t>
            </a:r>
            <a:r>
              <a:rPr lang="en-US" sz="1700">
                <a:solidFill>
                  <a:schemeClr val="bg1"/>
                </a:solidFill>
              </a:rPr>
              <a:t>: Developed a functional end-to-end pipeline using Keras 3 + JAX stack.</a:t>
            </a:r>
          </a:p>
          <a:p>
            <a:pPr>
              <a:lnSpc>
                <a:spcPct val="110000"/>
              </a:lnSpc>
            </a:pPr>
            <a:r>
              <a:rPr lang="en-US" sz="1700" b="1">
                <a:solidFill>
                  <a:schemeClr val="bg1"/>
                </a:solidFill>
              </a:rPr>
              <a:t>Scalable Design</a:t>
            </a:r>
            <a:r>
              <a:rPr lang="en-US" sz="1700">
                <a:solidFill>
                  <a:schemeClr val="bg1"/>
                </a:solidFill>
              </a:rPr>
              <a:t>: The move from 1D audio to 2D Mel-spectrograms allows for the use of powerful computer vision backbones like EfficientNetV2.</a:t>
            </a:r>
          </a:p>
          <a:p>
            <a:pPr>
              <a:lnSpc>
                <a:spcPct val="110000"/>
              </a:lnSpc>
            </a:pPr>
            <a:r>
              <a:rPr lang="en-US" sz="1700" b="1">
                <a:solidFill>
                  <a:schemeClr val="bg1"/>
                </a:solidFill>
              </a:rPr>
              <a:t>Future-Ready</a:t>
            </a:r>
            <a:r>
              <a:rPr lang="en-US" sz="1700">
                <a:solidFill>
                  <a:schemeClr val="bg1"/>
                </a:solidFill>
              </a:rPr>
              <a:t>: While limited by current compute resources, the system is architecturally ready for full-scale biodiversity monitoring.</a:t>
            </a:r>
          </a:p>
        </p:txBody>
      </p:sp>
      <p:pic>
        <p:nvPicPr>
          <p:cNvPr id="5" name="Kép 4" descr="A képen madár, kültéri, vadvilág, veréb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EADDFB2-5270-993A-FFD2-F8C9D6260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31"/>
          <a:stretch>
            <a:fillRect/>
          </a:stretch>
        </p:blipFill>
        <p:spPr>
          <a:xfrm>
            <a:off x="6083644" y="10"/>
            <a:ext cx="6108356" cy="685799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778267ED-ED7D-ABA3-4B5F-77D3EEC185B7}"/>
              </a:ext>
            </a:extLst>
          </p:cNvPr>
          <p:cNvSpPr txBox="1"/>
          <p:nvPr/>
        </p:nvSpPr>
        <p:spPr>
          <a:xfrm>
            <a:off x="10893415" y="6613445"/>
            <a:ext cx="1366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000" dirty="0">
                <a:solidFill>
                  <a:schemeClr val="bg1"/>
                </a:solidFill>
              </a:rPr>
              <a:t>AI-</a:t>
            </a:r>
            <a:r>
              <a:rPr lang="hu-HU" sz="1000" dirty="0" err="1">
                <a:solidFill>
                  <a:schemeClr val="bg1"/>
                </a:solidFill>
              </a:rPr>
              <a:t>generated</a:t>
            </a:r>
            <a:r>
              <a:rPr lang="hu-HU" sz="1000" dirty="0">
                <a:solidFill>
                  <a:schemeClr val="bg1"/>
                </a:solidFill>
              </a:rPr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2457179220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510</Words>
  <Application>Microsoft Office PowerPoint</Application>
  <PresentationFormat>Szélesvásznú</PresentationFormat>
  <Paragraphs>46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Bahnschrift</vt:lpstr>
      <vt:lpstr>MatrixVTI</vt:lpstr>
      <vt:lpstr>Automated Bird Species Classification</vt:lpstr>
      <vt:lpstr>Identifying Biodiversity through Sound</vt:lpstr>
      <vt:lpstr>Previous Solutions &amp; Context</vt:lpstr>
      <vt:lpstr>From Waves to Visual Patterns</vt:lpstr>
      <vt:lpstr>Model Architecture &amp; Framework</vt:lpstr>
      <vt:lpstr>Results &amp; Evaluation</vt:lpstr>
      <vt:lpstr>DEMO</vt:lpstr>
      <vt:lpstr>Project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Pribék Barnabás Zoltán</dc:creator>
  <cp:lastModifiedBy>Pribék Barnabás Zoltán</cp:lastModifiedBy>
  <cp:revision>3</cp:revision>
  <dcterms:created xsi:type="dcterms:W3CDTF">2026-01-07T18:07:48Z</dcterms:created>
  <dcterms:modified xsi:type="dcterms:W3CDTF">2026-01-07T22:19:44Z</dcterms:modified>
</cp:coreProperties>
</file>